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61" r:id="rId2"/>
    <p:sldId id="394" r:id="rId3"/>
    <p:sldId id="416" r:id="rId4"/>
    <p:sldId id="398" r:id="rId5"/>
    <p:sldId id="402" r:id="rId6"/>
    <p:sldId id="401" r:id="rId7"/>
    <p:sldId id="415" r:id="rId8"/>
    <p:sldId id="414" r:id="rId9"/>
    <p:sldId id="417" r:id="rId10"/>
    <p:sldId id="403" r:id="rId11"/>
    <p:sldId id="392" r:id="rId12"/>
    <p:sldId id="418" r:id="rId13"/>
    <p:sldId id="395" r:id="rId14"/>
    <p:sldId id="419" r:id="rId15"/>
    <p:sldId id="440" r:id="rId16"/>
    <p:sldId id="441" r:id="rId17"/>
    <p:sldId id="456" r:id="rId18"/>
    <p:sldId id="457" r:id="rId19"/>
    <p:sldId id="458" r:id="rId20"/>
    <p:sldId id="449" r:id="rId21"/>
    <p:sldId id="388" r:id="rId22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刘 子汉" initials="刘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D"/>
    <a:srgbClr val="FAACAA"/>
    <a:srgbClr val="6ABFC0"/>
    <a:srgbClr val="FFFFFF"/>
    <a:srgbClr val="BFE2F3"/>
    <a:srgbClr val="C31823"/>
    <a:srgbClr val="C9151E"/>
    <a:srgbClr val="E9CBBC"/>
    <a:srgbClr val="E0A487"/>
    <a:srgbClr val="D97C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 autoAdjust="0"/>
    <p:restoredTop sz="92789" autoAdjust="0"/>
  </p:normalViewPr>
  <p:slideViewPr>
    <p:cSldViewPr snapToGrid="0">
      <p:cViewPr varScale="1">
        <p:scale>
          <a:sx n="82" d="100"/>
          <a:sy n="82" d="100"/>
        </p:scale>
        <p:origin x="705" y="39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8" d="100"/>
          <a:sy n="98" d="100"/>
        </p:scale>
        <p:origin x="33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23E53-5BEF-E845-B984-597F9651C9DB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97BE-807D-594D-AE05-6AF27CA098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FE78F-58BC-423A-A341-D0065C580108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B1CD8-9F96-4F1D-A5B8-2D9E0ECCEB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700" dirty="0"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B1CD8-9F96-4F1D-A5B8-2D9E0ECCEB33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273" y="6071187"/>
            <a:ext cx="262800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070056"/>
            <a:ext cx="105156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5034522"/>
            <a:ext cx="10515600" cy="604299"/>
          </a:xfrm>
        </p:spPr>
        <p:txBody>
          <a:bodyPr anchor="ctr">
            <a:noAutofit/>
          </a:bodyPr>
          <a:lstStyle>
            <a:lvl1pPr algn="ctr">
              <a:defRPr lang="zh-CN" altLang="en-US" sz="28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/>
              <a:t>单击以编辑母版副标题样式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12192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0" y="3893788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658702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699" y="974280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658702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2" y="975603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00003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5"/>
          <p:cNvSpPr txBox="1"/>
          <p:nvPr/>
        </p:nvSpPr>
        <p:spPr>
          <a:xfrm>
            <a:off x="11596802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/>
              <a:t>‹#›</a:t>
            </a:fld>
            <a:endParaRPr lang="zh-CN" altLang="en-US" sz="1200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2" name="图片 11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413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  <p:sp>
        <p:nvSpPr>
          <p:cNvPr id="16" name="文本框 15"/>
          <p:cNvSpPr txBox="1"/>
          <p:nvPr userDrawn="1"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灯片编号占位符 5"/>
          <p:cNvSpPr txBox="1"/>
          <p:nvPr userDrawn="1"/>
        </p:nvSpPr>
        <p:spPr>
          <a:xfrm>
            <a:off x="11596801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z="1200" smtClean="0"/>
              <a:t>‹#›</a:t>
            </a:fld>
            <a:endParaRPr lang="zh-CN" alt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83" y="6080744"/>
            <a:ext cx="2160000" cy="51819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2" y="975603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9" name="图片 8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41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702" y="975603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100003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/>
          <p:nvPr/>
        </p:nvSpPr>
        <p:spPr>
          <a:xfrm>
            <a:off x="11595422" y="311755"/>
            <a:ext cx="596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/>
              <a:t>‹#›</a:t>
            </a:fld>
            <a:endParaRPr lang="zh-CN" altLang="en-US" sz="12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3" name="图片 12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346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灯片编号占位符 5"/>
          <p:cNvSpPr txBox="1"/>
          <p:nvPr userDrawn="1"/>
        </p:nvSpPr>
        <p:spPr>
          <a:xfrm>
            <a:off x="11595421" y="311755"/>
            <a:ext cx="5965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z="1200" smtClean="0"/>
              <a:t>‹#›</a:t>
            </a:fld>
            <a:endParaRPr lang="zh-CN" altLang="en-US" sz="1200" dirty="0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6" name="图片 5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41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11000037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6802" y="313203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1703B59-C883-4B8B-974E-AFB30A6C43A7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1000035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 hasCustomPrompt="1"/>
          </p:nvPr>
        </p:nvSpPr>
        <p:spPr>
          <a:xfrm>
            <a:off x="6381752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60" y="975600"/>
            <a:ext cx="1140822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1000037" y="313203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 hasCustomPrompt="1"/>
          </p:nvPr>
        </p:nvSpPr>
        <p:spPr>
          <a:xfrm>
            <a:off x="6381752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5421" y="313203"/>
            <a:ext cx="649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859" y="975600"/>
            <a:ext cx="11421927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3" name="图片 12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413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11000035" y="313201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49859" y="960117"/>
            <a:ext cx="5376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 hasCustomPrompt="1"/>
          </p:nvPr>
        </p:nvSpPr>
        <p:spPr>
          <a:xfrm>
            <a:off x="6381752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81751" y="958297"/>
            <a:ext cx="5376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1" name="图片 10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346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cxnSp>
        <p:nvCxnSpPr>
          <p:cNvPr id="14" name="直接连接符 13"/>
          <p:cNvCxnSpPr/>
          <p:nvPr userDrawn="1"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1000037" y="313203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349859" y="960117"/>
            <a:ext cx="5376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349859" y="1717675"/>
            <a:ext cx="5376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 hasCustomPrompt="1"/>
          </p:nvPr>
        </p:nvSpPr>
        <p:spPr>
          <a:xfrm>
            <a:off x="6381752" y="1717675"/>
            <a:ext cx="5376333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381751" y="958297"/>
            <a:ext cx="5376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1595421" y="313203"/>
            <a:ext cx="649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4" name="图片 1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5"/>
            <a:ext cx="1655999" cy="401413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1000035" y="313201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 userDrawn="1"/>
        </p:nvCxnSpPr>
        <p:spPr>
          <a:xfrm flipV="1">
            <a:off x="0" y="1550505"/>
            <a:ext cx="12192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928" y="5815087"/>
            <a:ext cx="2700000" cy="6511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5500" y="4006448"/>
            <a:ext cx="11100025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25500" y="5245249"/>
            <a:ext cx="7760477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单击以编辑母版副标题样式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12192000" cy="3931920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0" y="3893788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625500" y="5815087"/>
            <a:ext cx="5545667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32"/>
            <a:ext cx="12192000" cy="3931920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0" y="3893788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2546"/>
            <a:ext cx="12192000" cy="2796540"/>
          </a:xfrm>
          <a:prstGeom prst="rect">
            <a:avLst/>
          </a:prstGeom>
        </p:spPr>
      </p:pic>
      <p:pic>
        <p:nvPicPr>
          <p:cNvPr id="4" name="图片 3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55" y="4211593"/>
            <a:ext cx="3240000" cy="799802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1552218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effectLst>
                  <a:glow rad="25400">
                    <a:srgbClr val="BFE2F3"/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solidFill>
                  <a:schemeClr val="accent1"/>
                </a:solidFill>
              </a:rPr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551293" y="807632"/>
            <a:ext cx="11120561" cy="5865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9" name="标题 1"/>
          <p:cNvSpPr txBox="1"/>
          <p:nvPr userDrawn="1"/>
        </p:nvSpPr>
        <p:spPr>
          <a:xfrm>
            <a:off x="431801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2"/>
                </a:solidFill>
                <a:effectLst>
                  <a:glow rad="25400">
                    <a:srgbClr val="BFE2F3"/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solidFill>
                  <a:schemeClr val="accent1"/>
                </a:solidFill>
              </a:rPr>
              <a:t>单击此处编辑母版标题样式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4244283"/>
            <a:ext cx="12192000" cy="899510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编译原理大作业</a:t>
            </a:r>
            <a:r>
              <a:rPr lang="en-US" altLang="zh-CN" sz="4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Tutorial</a:t>
            </a:r>
            <a:br>
              <a:rPr lang="en-US" altLang="zh-CN" sz="4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MLIR 编译框架的使用与探索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67135" y="1506115"/>
            <a:ext cx="843427" cy="443226"/>
            <a:chOff x="666810" y="2586037"/>
            <a:chExt cx="468000" cy="245937"/>
          </a:xfrm>
        </p:grpSpPr>
        <p:sp>
          <p:nvSpPr>
            <p:cNvPr id="4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4159633" y="1913780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540673" y="1487676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MLIR</a:t>
            </a:r>
            <a:r>
              <a:rPr lang="en-US" altLang="zh-CN" sz="2400" b="1" dirty="0"/>
              <a:t> </a:t>
            </a:r>
            <a:r>
              <a:rPr lang="zh-CN" altLang="en-US" sz="2400" dirty="0"/>
              <a:t>编译框架简介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67135" y="2426088"/>
            <a:ext cx="843427" cy="443226"/>
            <a:chOff x="666810" y="2586037"/>
            <a:chExt cx="468000" cy="245937"/>
          </a:xfrm>
        </p:grpSpPr>
        <p:sp>
          <p:nvSpPr>
            <p:cNvPr id="13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4159633" y="2833753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540673" y="2397272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ym typeface="+mn-ea"/>
              </a:rPr>
              <a:t>Pony 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语言简介</a:t>
            </a:r>
            <a:endParaRPr lang="zh-CN" altLang="en-US" sz="24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3467135" y="3346061"/>
            <a:ext cx="843427" cy="443226"/>
            <a:chOff x="666810" y="2586037"/>
            <a:chExt cx="468000" cy="245937"/>
          </a:xfrm>
        </p:grpSpPr>
        <p:sp>
          <p:nvSpPr>
            <p:cNvPr id="18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9" name="文本框 18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4159633" y="3753726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540673" y="3317245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大作业问题描述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3467135" y="4266034"/>
            <a:ext cx="843427" cy="443226"/>
            <a:chOff x="666810" y="2586037"/>
            <a:chExt cx="468000" cy="245937"/>
          </a:xfrm>
        </p:grpSpPr>
        <p:sp>
          <p:nvSpPr>
            <p:cNvPr id="23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24" name="文本框 23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4159633" y="4673699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540673" y="4206738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实验流程简介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67135" y="1506115"/>
            <a:ext cx="843427" cy="443226"/>
            <a:chOff x="666810" y="2586037"/>
            <a:chExt cx="468000" cy="245937"/>
          </a:xfrm>
        </p:grpSpPr>
        <p:sp>
          <p:nvSpPr>
            <p:cNvPr id="4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4159633" y="1913780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540673" y="1487676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MLIR</a:t>
            </a:r>
            <a:r>
              <a:rPr lang="en-US" altLang="zh-CN" sz="2400" b="1" dirty="0"/>
              <a:t> </a:t>
            </a:r>
            <a:r>
              <a:rPr lang="zh-CN" altLang="en-US" sz="2400" dirty="0"/>
              <a:t>编译框架简介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67135" y="2426088"/>
            <a:ext cx="843427" cy="443226"/>
            <a:chOff x="666810" y="2586037"/>
            <a:chExt cx="468000" cy="245937"/>
          </a:xfrm>
        </p:grpSpPr>
        <p:sp>
          <p:nvSpPr>
            <p:cNvPr id="13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4159633" y="2833753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540673" y="2393462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ym typeface="+mn-ea"/>
              </a:rPr>
              <a:t>Pony 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语言简介</a:t>
            </a:r>
            <a:endParaRPr lang="zh-CN" altLang="en-US"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159633" y="3753726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540673" y="3317245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大作业问题描述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4159633" y="4673699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540673" y="4206738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实验流程</a:t>
            </a:r>
            <a:r>
              <a:rPr lang="zh-CN" altLang="en-US" sz="2400" dirty="0">
                <a:sym typeface="+mn-ea"/>
              </a:rPr>
              <a:t>简介</a:t>
            </a:r>
            <a:endParaRPr lang="zh-CN" altLang="en-US" sz="24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3467135" y="3345568"/>
            <a:ext cx="843427" cy="443226"/>
            <a:chOff x="666810" y="2586037"/>
            <a:chExt cx="468000" cy="245937"/>
          </a:xfrm>
        </p:grpSpPr>
        <p:sp>
          <p:nvSpPr>
            <p:cNvPr id="27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28" name="文本框 27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467135" y="4265048"/>
            <a:ext cx="843427" cy="443226"/>
            <a:chOff x="666810" y="2586037"/>
            <a:chExt cx="468000" cy="245937"/>
          </a:xfrm>
        </p:grpSpPr>
        <p:sp>
          <p:nvSpPr>
            <p:cNvPr id="30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31" name="文本框 30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5179" y="933640"/>
            <a:ext cx="11162884" cy="574183"/>
          </a:xfrm>
        </p:spPr>
        <p:txBody>
          <a:bodyPr/>
          <a:lstStyle/>
          <a:p>
            <a:r>
              <a:rPr lang="zh-CN" sz="3000" dirty="0">
                <a:sym typeface="+mn-ea"/>
              </a:rPr>
              <a:t>以</a:t>
            </a:r>
            <a:r>
              <a:rPr lang="en-US" altLang="zh-CN" sz="3000" dirty="0">
                <a:sym typeface="+mn-ea"/>
              </a:rPr>
              <a:t>TensorFlow</a:t>
            </a:r>
            <a:r>
              <a:rPr lang="zh-CN" altLang="en-US" sz="3000" dirty="0">
                <a:sym typeface="+mn-ea"/>
              </a:rPr>
              <a:t>为引</a:t>
            </a:r>
            <a:r>
              <a:rPr lang="en-US" altLang="zh-CN" sz="3000" dirty="0">
                <a:sym typeface="+mn-ea"/>
              </a:rPr>
              <a:t> </a:t>
            </a:r>
            <a:br>
              <a:rPr lang="zh-CN" altLang="en-US" sz="3000" dirty="0"/>
            </a:br>
            <a:endParaRPr lang="zh-CN" altLang="en-US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34975" y="1696720"/>
            <a:ext cx="101276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TensorFlow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是一个端到端的开源机器学习平台。</a:t>
            </a: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在TensorFlow中，使用计算图 (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computational graph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 来表示计算任务。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974215" y="5696585"/>
            <a:ext cx="47193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函数f(x,y)=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lang="zh-CN" altLang="en-US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y+y+2对应的计算图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905" y="3023235"/>
            <a:ext cx="3371850" cy="2520315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 flipV="1">
            <a:off x="4674870" y="3302000"/>
            <a:ext cx="1856105" cy="5880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693535" y="3118485"/>
            <a:ext cx="43059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节点表示具体操作，比如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multiplication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674870" y="4473575"/>
            <a:ext cx="1845945" cy="187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693535" y="4540250"/>
            <a:ext cx="1806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边表示数据流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5179" y="933640"/>
            <a:ext cx="11162884" cy="574183"/>
          </a:xfrm>
        </p:spPr>
        <p:txBody>
          <a:bodyPr/>
          <a:lstStyle/>
          <a:p>
            <a:r>
              <a:rPr lang="zh-CN" sz="3000" dirty="0">
                <a:sym typeface="+mn-ea"/>
              </a:rPr>
              <a:t>以</a:t>
            </a:r>
            <a:r>
              <a:rPr lang="en-US" altLang="zh-CN" sz="3000" dirty="0">
                <a:sym typeface="+mn-ea"/>
              </a:rPr>
              <a:t>TensorFlow</a:t>
            </a:r>
            <a:r>
              <a:rPr lang="zh-CN" altLang="en-US" sz="3000" dirty="0">
                <a:sym typeface="+mn-ea"/>
              </a:rPr>
              <a:t>为引</a:t>
            </a:r>
            <a:r>
              <a:rPr lang="en-US" altLang="zh-CN" sz="3000" dirty="0">
                <a:sym typeface="+mn-ea"/>
              </a:rPr>
              <a:t> </a:t>
            </a:r>
            <a:br>
              <a:rPr lang="zh-CN" altLang="en-US" sz="3000" dirty="0"/>
            </a:br>
            <a:endParaRPr lang="zh-CN" altLang="en-US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63855" y="1739265"/>
            <a:ext cx="4604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TensorFlow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生态：</a:t>
            </a:r>
          </a:p>
        </p:txBody>
      </p:sp>
      <p:sp>
        <p:nvSpPr>
          <p:cNvPr id="4" name="左大括号 3"/>
          <p:cNvSpPr/>
          <p:nvPr/>
        </p:nvSpPr>
        <p:spPr>
          <a:xfrm rot="16200000">
            <a:off x="3054985" y="4089400"/>
            <a:ext cx="274955" cy="312801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478405" y="5924550"/>
            <a:ext cx="1603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基于图的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IR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02355" y="2037080"/>
            <a:ext cx="4465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SSA(Static single assignment)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IR</a:t>
            </a:r>
          </a:p>
        </p:txBody>
      </p:sp>
      <p:sp>
        <p:nvSpPr>
          <p:cNvPr id="7" name="左大括号 6"/>
          <p:cNvSpPr/>
          <p:nvPr/>
        </p:nvSpPr>
        <p:spPr>
          <a:xfrm rot="5400000">
            <a:off x="5496560" y="2138680"/>
            <a:ext cx="154305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463280" y="1943100"/>
            <a:ext cx="3438525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存在问题：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间的抽象级别差距太大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不同层次内部的优化手段无法复用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迁移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各部分基础设施大量重复（重复造轮子）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0565" y="2746375"/>
            <a:ext cx="6868795" cy="2543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06730" y="1830705"/>
            <a:ext cx="486410" cy="40576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5179" y="933640"/>
            <a:ext cx="11162884" cy="574183"/>
          </a:xfrm>
        </p:spPr>
        <p:txBody>
          <a:bodyPr/>
          <a:lstStyle/>
          <a:p>
            <a:r>
              <a:rPr lang="zh-CN" sz="3000" dirty="0">
                <a:sym typeface="+mn-ea"/>
              </a:rPr>
              <a:t>什么是</a:t>
            </a:r>
            <a:r>
              <a:rPr lang="en-US" altLang="zh-CN" sz="3000" dirty="0">
                <a:sym typeface="+mn-ea"/>
              </a:rPr>
              <a:t>MLIR </a:t>
            </a:r>
            <a:r>
              <a:rPr lang="zh-CN" altLang="en-US" sz="3000" dirty="0">
                <a:sym typeface="+mn-ea"/>
              </a:rPr>
              <a:t>？</a:t>
            </a:r>
            <a:br>
              <a:rPr lang="zh-CN" altLang="en-US" sz="3000" dirty="0"/>
            </a:br>
            <a:endParaRPr lang="zh-CN" altLang="en-US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636885" y="5252720"/>
            <a:ext cx="1450975" cy="14509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4340" y="2879090"/>
            <a:ext cx="1116393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The MLIR project is a novel approach to building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reusable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and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extensible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compiler infrastructure. MLIR aims to address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software fragmentation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improve compilation for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heterogeneous hardware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, significantly reduce the cost of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building domain specific compilers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, and aid in 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connecting existing compilers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together.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4975" y="1798320"/>
            <a:ext cx="78543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IR (Multi-Level Intermediate Representation)</a:t>
            </a:r>
          </a:p>
        </p:txBody>
      </p:sp>
      <p:sp>
        <p:nvSpPr>
          <p:cNvPr id="9" name="任意多边形 8"/>
          <p:cNvSpPr/>
          <p:nvPr/>
        </p:nvSpPr>
        <p:spPr>
          <a:xfrm>
            <a:off x="719455" y="2236470"/>
            <a:ext cx="602615" cy="304165"/>
          </a:xfrm>
          <a:custGeom>
            <a:avLst/>
            <a:gdLst>
              <a:gd name="connisteX0" fmla="*/ 0 w 937502"/>
              <a:gd name="connsiteY0" fmla="*/ 0 h 486256"/>
              <a:gd name="connisteX1" fmla="*/ 304165 w 937502"/>
              <a:gd name="connsiteY1" fmla="*/ 436245 h 486256"/>
              <a:gd name="connisteX2" fmla="*/ 821690 w 937502"/>
              <a:gd name="connsiteY2" fmla="*/ 466725 h 486256"/>
              <a:gd name="connisteX3" fmla="*/ 933450 w 937502"/>
              <a:gd name="connsiteY3" fmla="*/ 456565 h 486256"/>
              <a:gd name="connisteX4" fmla="*/ 902970 w 937502"/>
              <a:gd name="connsiteY4" fmla="*/ 456565 h 48625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37502" h="486257">
                <a:moveTo>
                  <a:pt x="0" y="0"/>
                </a:moveTo>
                <a:cubicBezTo>
                  <a:pt x="50165" y="86360"/>
                  <a:pt x="139700" y="342900"/>
                  <a:pt x="304165" y="436245"/>
                </a:cubicBezTo>
                <a:cubicBezTo>
                  <a:pt x="468630" y="529590"/>
                  <a:pt x="695960" y="462915"/>
                  <a:pt x="821690" y="466725"/>
                </a:cubicBezTo>
                <a:cubicBezTo>
                  <a:pt x="947420" y="470535"/>
                  <a:pt x="916940" y="458470"/>
                  <a:pt x="933450" y="456565"/>
                </a:cubicBezTo>
                <a:cubicBezTo>
                  <a:pt x="949960" y="454660"/>
                  <a:pt x="911225" y="456565"/>
                  <a:pt x="902970" y="456565"/>
                </a:cubicBezTo>
              </a:path>
            </a:pathLst>
          </a:custGeom>
          <a:noFill/>
          <a:ln w="3175" cmpd="sng">
            <a:solidFill>
              <a:schemeClr val="accent1">
                <a:shade val="50000"/>
              </a:schemeClr>
            </a:solidFill>
            <a:prstDash val="solid"/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88745" y="2399030"/>
            <a:ext cx="7617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machine learning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machine learning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是其应用领域之一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21385" y="4992370"/>
            <a:ext cx="2473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一个可重用、可扩展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的开源编译框架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左大括号 12"/>
          <p:cNvSpPr/>
          <p:nvPr/>
        </p:nvSpPr>
        <p:spPr>
          <a:xfrm>
            <a:off x="3395345" y="4765675"/>
            <a:ext cx="398145" cy="1511935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863975" y="4577080"/>
            <a:ext cx="58629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解决软件碎片化问题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为异构硬件提供编译支持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降低领域专用编译器的构建难度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将现有的优秀编译器工作连接在一起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429385" y="2378710"/>
            <a:ext cx="6755130" cy="415925"/>
          </a:xfrm>
          <a:prstGeom prst="rect">
            <a:avLst/>
          </a:prstGeom>
          <a:noFill/>
          <a:ln w="19050" cmpd="sng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14554" y="935545"/>
            <a:ext cx="11162884" cy="574183"/>
          </a:xfrm>
        </p:spPr>
        <p:txBody>
          <a:bodyPr/>
          <a:lstStyle/>
          <a:p>
            <a:r>
              <a:rPr lang="en-US" altLang="zh-CN" sz="3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MLIR</a:t>
            </a:r>
            <a:r>
              <a:rPr lang="zh-CN" altLang="en-US" sz="3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的核心概念：</a:t>
            </a:r>
            <a:r>
              <a:rPr lang="en-US" altLang="zh-CN" sz="3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Dialect</a:t>
            </a: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654665" y="5193665"/>
            <a:ext cx="1450975" cy="14509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1642745"/>
            <a:ext cx="2301240" cy="49453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4350" y="1810385"/>
            <a:ext cx="74041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针对前面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TensorFlow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中提到的一系列问题，有什么比较好的解决方案？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统一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IR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表示！！！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1315" y="3046095"/>
            <a:ext cx="1165860" cy="612140"/>
          </a:xfrm>
          <a:prstGeom prst="rect">
            <a:avLst/>
          </a:prstGeom>
          <a:noFill/>
          <a:ln w="19050" cmpd="sng">
            <a:solidFill>
              <a:srgbClr val="0070C0">
                <a:alpha val="9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95300" y="3155315"/>
            <a:ext cx="1113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源程序</a:t>
            </a:r>
          </a:p>
        </p:txBody>
      </p:sp>
      <p:cxnSp>
        <p:nvCxnSpPr>
          <p:cNvPr id="12" name="直接箭头连接符 11"/>
          <p:cNvCxnSpPr>
            <a:stCxn id="5" idx="3"/>
          </p:cNvCxnSpPr>
          <p:nvPr/>
        </p:nvCxnSpPr>
        <p:spPr>
          <a:xfrm>
            <a:off x="1527175" y="3352165"/>
            <a:ext cx="609600" cy="444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3302635" y="3347720"/>
            <a:ext cx="751205" cy="444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144645" y="3144520"/>
            <a:ext cx="2087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MLIR Dialect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90995" y="3155315"/>
            <a:ext cx="13855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目标程序</a:t>
            </a:r>
          </a:p>
        </p:txBody>
      </p:sp>
      <p:sp>
        <p:nvSpPr>
          <p:cNvPr id="18" name="矩形 17"/>
          <p:cNvSpPr/>
          <p:nvPr/>
        </p:nvSpPr>
        <p:spPr>
          <a:xfrm>
            <a:off x="2136775" y="3037840"/>
            <a:ext cx="1165860" cy="612140"/>
          </a:xfrm>
          <a:prstGeom prst="rect">
            <a:avLst/>
          </a:prstGeom>
          <a:noFill/>
          <a:ln w="19050" cmpd="sng">
            <a:solidFill>
              <a:srgbClr val="0070C0">
                <a:alpha val="9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375535" y="3175635"/>
            <a:ext cx="1113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AST</a:t>
            </a:r>
          </a:p>
        </p:txBody>
      </p:sp>
      <p:sp>
        <p:nvSpPr>
          <p:cNvPr id="21" name="矩形 20"/>
          <p:cNvSpPr/>
          <p:nvPr/>
        </p:nvSpPr>
        <p:spPr>
          <a:xfrm>
            <a:off x="4053840" y="3048635"/>
            <a:ext cx="1885950" cy="612140"/>
          </a:xfrm>
          <a:prstGeom prst="rect">
            <a:avLst/>
          </a:prstGeom>
          <a:noFill/>
          <a:ln w="19050" cmpd="sng">
            <a:solidFill>
              <a:srgbClr val="0070C0">
                <a:alpha val="9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690995" y="3037840"/>
            <a:ext cx="1266825" cy="612140"/>
          </a:xfrm>
          <a:prstGeom prst="rect">
            <a:avLst/>
          </a:prstGeom>
          <a:noFill/>
          <a:ln w="19050" cmpd="sng">
            <a:solidFill>
              <a:srgbClr val="0070C0">
                <a:alpha val="9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5939790" y="3341370"/>
            <a:ext cx="751205" cy="444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45" y="3862705"/>
            <a:ext cx="5338445" cy="2454275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3211195" y="3791585"/>
            <a:ext cx="1287780" cy="259651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/>
        </p:nvSpPr>
        <p:spPr>
          <a:xfrm>
            <a:off x="4584065" y="3905885"/>
            <a:ext cx="1318260" cy="537845"/>
          </a:xfrm>
          <a:custGeom>
            <a:avLst/>
            <a:gdLst>
              <a:gd name="connisteX0" fmla="*/ 0 w 1318260"/>
              <a:gd name="connsiteY0" fmla="*/ 44859 h 537714"/>
              <a:gd name="connisteX1" fmla="*/ 892810 w 1318260"/>
              <a:gd name="connsiteY1" fmla="*/ 24539 h 537714"/>
              <a:gd name="connisteX2" fmla="*/ 1257935 w 1318260"/>
              <a:gd name="connsiteY2" fmla="*/ 349024 h 537714"/>
              <a:gd name="connisteX3" fmla="*/ 1297940 w 1318260"/>
              <a:gd name="connsiteY3" fmla="*/ 521744 h 537714"/>
              <a:gd name="connisteX4" fmla="*/ 1318260 w 1318260"/>
              <a:gd name="connsiteY4" fmla="*/ 521744 h 53771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318260" h="537715">
                <a:moveTo>
                  <a:pt x="0" y="44860"/>
                </a:moveTo>
                <a:cubicBezTo>
                  <a:pt x="171450" y="34065"/>
                  <a:pt x="641350" y="-36420"/>
                  <a:pt x="892810" y="24540"/>
                </a:cubicBezTo>
                <a:cubicBezTo>
                  <a:pt x="1144270" y="85500"/>
                  <a:pt x="1176655" y="249330"/>
                  <a:pt x="1257935" y="349025"/>
                </a:cubicBezTo>
                <a:cubicBezTo>
                  <a:pt x="1339215" y="448720"/>
                  <a:pt x="1285875" y="487455"/>
                  <a:pt x="1297940" y="521745"/>
                </a:cubicBezTo>
                <a:cubicBezTo>
                  <a:pt x="1310005" y="556035"/>
                  <a:pt x="1315085" y="524920"/>
                  <a:pt x="1318260" y="521745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箭头连接符 51"/>
          <p:cNvCxnSpPr/>
          <p:nvPr/>
        </p:nvCxnSpPr>
        <p:spPr>
          <a:xfrm flipV="1">
            <a:off x="4498975" y="4397375"/>
            <a:ext cx="1058545" cy="46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641975" y="3959860"/>
            <a:ext cx="26269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统一使用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MLIR Dialect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来定义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5179" y="933640"/>
            <a:ext cx="11162884" cy="574183"/>
          </a:xfrm>
        </p:spPr>
        <p:txBody>
          <a:bodyPr/>
          <a:lstStyle/>
          <a:p>
            <a:r>
              <a:rPr lang="zh-CN" sz="3000" dirty="0">
                <a:sym typeface="+mn-ea"/>
              </a:rPr>
              <a:t>以</a:t>
            </a:r>
            <a:r>
              <a:rPr lang="en-US" altLang="zh-CN" sz="3000" dirty="0">
                <a:sym typeface="+mn-ea"/>
              </a:rPr>
              <a:t>ML Frameworks</a:t>
            </a:r>
            <a:r>
              <a:rPr lang="zh-CN" altLang="en-US" sz="3000" dirty="0">
                <a:sym typeface="+mn-ea"/>
              </a:rPr>
              <a:t>为例</a:t>
            </a:r>
            <a:r>
              <a:rPr lang="en-US" altLang="zh-CN" sz="3000" dirty="0">
                <a:sym typeface="+mn-ea"/>
              </a:rPr>
              <a:t> </a:t>
            </a:r>
            <a:br>
              <a:rPr lang="zh-CN" altLang="en-US" sz="3000" dirty="0"/>
            </a:br>
            <a:endParaRPr lang="zh-CN" altLang="en-US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53540"/>
            <a:ext cx="9041765" cy="4878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67135" y="1506115"/>
            <a:ext cx="843427" cy="443226"/>
            <a:chOff x="666810" y="2586037"/>
            <a:chExt cx="468000" cy="245937"/>
          </a:xfrm>
        </p:grpSpPr>
        <p:sp>
          <p:nvSpPr>
            <p:cNvPr id="4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4159633" y="1913780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540673" y="1487676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MLIR</a:t>
            </a:r>
            <a:r>
              <a:rPr lang="en-US" altLang="zh-CN" sz="2400" b="1" dirty="0"/>
              <a:t> </a:t>
            </a:r>
            <a:r>
              <a:rPr lang="zh-CN" altLang="en-US" sz="2400" dirty="0"/>
              <a:t>编译框架简介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67135" y="2426088"/>
            <a:ext cx="843427" cy="443226"/>
            <a:chOff x="666810" y="2586037"/>
            <a:chExt cx="468000" cy="245937"/>
          </a:xfrm>
        </p:grpSpPr>
        <p:sp>
          <p:nvSpPr>
            <p:cNvPr id="13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4159633" y="2833753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540673" y="2393462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ym typeface="+mn-ea"/>
              </a:rPr>
              <a:t>Pony 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语言简介</a:t>
            </a:r>
            <a:endParaRPr lang="zh-CN" altLang="en-US"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4159633" y="3753726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4540673" y="3317245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大作业问题描述</a:t>
            </a:r>
          </a:p>
        </p:txBody>
      </p:sp>
      <p:cxnSp>
        <p:nvCxnSpPr>
          <p:cNvPr id="35" name="直接连接符 34"/>
          <p:cNvCxnSpPr/>
          <p:nvPr/>
        </p:nvCxnSpPr>
        <p:spPr>
          <a:xfrm>
            <a:off x="4159633" y="4673699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540673" y="4206738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实验流程</a:t>
            </a:r>
            <a:r>
              <a:rPr lang="zh-CN" altLang="en-US" sz="2400" dirty="0">
                <a:sym typeface="+mn-ea"/>
              </a:rPr>
              <a:t>简介</a:t>
            </a:r>
            <a:endParaRPr lang="zh-CN" altLang="en-US" sz="24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3467135" y="3345568"/>
            <a:ext cx="843427" cy="443226"/>
            <a:chOff x="666810" y="2586037"/>
            <a:chExt cx="468000" cy="245937"/>
          </a:xfrm>
        </p:grpSpPr>
        <p:sp>
          <p:nvSpPr>
            <p:cNvPr id="38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39" name="文本框 38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3467135" y="4265048"/>
            <a:ext cx="843427" cy="443226"/>
            <a:chOff x="666810" y="2586037"/>
            <a:chExt cx="468000" cy="245937"/>
          </a:xfrm>
        </p:grpSpPr>
        <p:sp>
          <p:nvSpPr>
            <p:cNvPr id="41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42" name="文本框 41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5179" y="933640"/>
            <a:ext cx="11162884" cy="574183"/>
          </a:xfrm>
        </p:spPr>
        <p:txBody>
          <a:bodyPr/>
          <a:lstStyle/>
          <a:p>
            <a:r>
              <a:rPr lang="en-US" sz="3000" dirty="0">
                <a:sym typeface="+mn-ea"/>
              </a:rPr>
              <a:t>Pony </a:t>
            </a:r>
            <a:r>
              <a:rPr lang="zh-CN" altLang="en-US" sz="3000" dirty="0">
                <a:sym typeface="+mn-ea"/>
              </a:rPr>
              <a:t>语言简介</a:t>
            </a:r>
            <a:br>
              <a:rPr lang="zh-CN" altLang="en-US" sz="3000" dirty="0"/>
            </a:br>
            <a:endParaRPr lang="zh-CN" altLang="en-US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636885" y="5274310"/>
            <a:ext cx="1450975" cy="14509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6100" y="1744980"/>
            <a:ext cx="110521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Pony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语言是本次大作业的使用语言。它是一种自定义的，基于张量（tensor）的语言。Pony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语言支持少量功能，包括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函数定义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基本数学运算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1975" y="2903855"/>
            <a:ext cx="799211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1831975" y="4341495"/>
            <a:ext cx="4187825" cy="1275080"/>
          </a:xfrm>
          <a:prstGeom prst="rect">
            <a:avLst/>
          </a:prstGeom>
          <a:noFill/>
          <a:ln w="158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15189" y="935545"/>
            <a:ext cx="11162884" cy="574183"/>
          </a:xfrm>
        </p:spPr>
        <p:txBody>
          <a:bodyPr/>
          <a:lstStyle/>
          <a:p>
            <a:r>
              <a:rPr lang="zh-CN" altLang="en-US" sz="3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一个端到端流程</a:t>
            </a:r>
            <a:endParaRPr lang="en-US" altLang="zh-CN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741025" y="5269230"/>
            <a:ext cx="1450975" cy="1450975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714375" y="2896870"/>
            <a:ext cx="1246505" cy="612140"/>
          </a:xfrm>
          <a:prstGeom prst="rect">
            <a:avLst/>
          </a:prstGeom>
          <a:noFill/>
          <a:ln w="19050" cmpd="sng">
            <a:solidFill>
              <a:schemeClr val="accent2">
                <a:lumMod val="60000"/>
                <a:lumOff val="40000"/>
                <a:alpha val="93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15010" y="3006090"/>
            <a:ext cx="1355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pony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</a:p>
        </p:txBody>
      </p:sp>
      <p:cxnSp>
        <p:nvCxnSpPr>
          <p:cNvPr id="31" name="直接箭头连接符 30"/>
          <p:cNvCxnSpPr>
            <a:stCxn id="29" idx="3"/>
          </p:cNvCxnSpPr>
          <p:nvPr/>
        </p:nvCxnSpPr>
        <p:spPr>
          <a:xfrm>
            <a:off x="1960880" y="3202940"/>
            <a:ext cx="609600" cy="444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3736340" y="3198495"/>
            <a:ext cx="673735" cy="254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410075" y="2994660"/>
            <a:ext cx="1784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pony Dialect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797040" y="3006090"/>
            <a:ext cx="17132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其他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Dialect</a:t>
            </a:r>
            <a:endParaRPr lang="zh-CN" sz="20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570480" y="2888615"/>
            <a:ext cx="1165860" cy="612140"/>
          </a:xfrm>
          <a:prstGeom prst="rect">
            <a:avLst/>
          </a:prstGeom>
          <a:noFill/>
          <a:ln w="19050" cmpd="sng">
            <a:solidFill>
              <a:srgbClr val="FFC000">
                <a:alpha val="9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2544445" y="2994660"/>
            <a:ext cx="1243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pony AST</a:t>
            </a:r>
          </a:p>
        </p:txBody>
      </p:sp>
      <p:sp>
        <p:nvSpPr>
          <p:cNvPr id="37" name="矩形 36"/>
          <p:cNvSpPr/>
          <p:nvPr/>
        </p:nvSpPr>
        <p:spPr>
          <a:xfrm>
            <a:off x="4410075" y="2899410"/>
            <a:ext cx="1713230" cy="612140"/>
          </a:xfrm>
          <a:prstGeom prst="rect">
            <a:avLst/>
          </a:prstGeom>
          <a:noFill/>
          <a:ln w="19050" cmpd="sng">
            <a:solidFill>
              <a:srgbClr val="FFC000">
                <a:alpha val="9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803390" y="2887980"/>
            <a:ext cx="1621155" cy="612140"/>
          </a:xfrm>
          <a:prstGeom prst="rect">
            <a:avLst/>
          </a:prstGeom>
          <a:noFill/>
          <a:ln w="19050" cmpd="sng">
            <a:solidFill>
              <a:srgbClr val="FFC000">
                <a:alpha val="9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/>
          <p:cNvCxnSpPr/>
          <p:nvPr/>
        </p:nvCxnSpPr>
        <p:spPr>
          <a:xfrm>
            <a:off x="6123305" y="3192145"/>
            <a:ext cx="680085" cy="88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8462645" y="3207385"/>
            <a:ext cx="680085" cy="889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9190355" y="3005455"/>
            <a:ext cx="13855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目标程序</a:t>
            </a:r>
          </a:p>
        </p:txBody>
      </p:sp>
      <p:sp>
        <p:nvSpPr>
          <p:cNvPr id="42" name="矩形 41"/>
          <p:cNvSpPr/>
          <p:nvPr/>
        </p:nvSpPr>
        <p:spPr>
          <a:xfrm>
            <a:off x="9190355" y="2887980"/>
            <a:ext cx="1266825" cy="612140"/>
          </a:xfrm>
          <a:prstGeom prst="rect">
            <a:avLst/>
          </a:prstGeom>
          <a:noFill/>
          <a:ln w="19050" cmpd="sng">
            <a:solidFill>
              <a:srgbClr val="FFC000">
                <a:alpha val="9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831975" y="4369435"/>
            <a:ext cx="418719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在遍历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的过程中，根据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节点的信息，</a:t>
            </a: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dialect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定义相应操作，实现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AST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节点到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MLIR dialect operation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的绑定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600835" y="1895475"/>
            <a:ext cx="1410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词法</a:t>
            </a:r>
            <a:r>
              <a:rPr lang="en-US" altLang="zh-CN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语法分析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758180" y="2132330"/>
            <a:ext cx="141097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Lowering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3976370" y="3205480"/>
            <a:ext cx="5080" cy="1131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7618095" y="3511550"/>
            <a:ext cx="8890" cy="7029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482715" y="4316730"/>
            <a:ext cx="4686935" cy="1275080"/>
          </a:xfrm>
          <a:prstGeom prst="rect">
            <a:avLst/>
          </a:prstGeom>
          <a:noFill/>
          <a:ln w="158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482715" y="4321175"/>
            <a:ext cx="468693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lower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affine dialect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，进行循环优化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lower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LLVM dialect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，方便下一步输出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LLVM 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67135" y="1506115"/>
            <a:ext cx="843427" cy="443226"/>
            <a:chOff x="666810" y="2586037"/>
            <a:chExt cx="468000" cy="245937"/>
          </a:xfrm>
        </p:grpSpPr>
        <p:sp>
          <p:nvSpPr>
            <p:cNvPr id="4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4159633" y="1913780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540673" y="1487676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MLIR</a:t>
            </a:r>
            <a:r>
              <a:rPr lang="en-US" altLang="zh-CN" sz="2400" b="1" dirty="0"/>
              <a:t> </a:t>
            </a:r>
            <a:r>
              <a:rPr lang="zh-CN" altLang="en-US" sz="2400" dirty="0"/>
              <a:t>编译框架简介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67135" y="2426088"/>
            <a:ext cx="843427" cy="443226"/>
            <a:chOff x="666810" y="2586037"/>
            <a:chExt cx="468000" cy="245937"/>
          </a:xfrm>
        </p:grpSpPr>
        <p:sp>
          <p:nvSpPr>
            <p:cNvPr id="13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4159633" y="2833753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540673" y="2393462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ym typeface="+mn-ea"/>
              </a:rPr>
              <a:t>Pony 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语言简介</a:t>
            </a:r>
            <a:endParaRPr lang="zh-CN" altLang="en-US" sz="24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159633" y="3753726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540673" y="3317245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大作业问题描述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4159633" y="4673699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540673" y="4206738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实验流程</a:t>
            </a:r>
            <a:r>
              <a:rPr lang="zh-CN" altLang="en-US" sz="2400" dirty="0">
                <a:sym typeface="+mn-ea"/>
              </a:rPr>
              <a:t>简介</a:t>
            </a:r>
            <a:endParaRPr lang="zh-CN" altLang="en-US" sz="2400" dirty="0"/>
          </a:p>
        </p:txBody>
      </p:sp>
      <p:grpSp>
        <p:nvGrpSpPr>
          <p:cNvPr id="6" name="组合 5"/>
          <p:cNvGrpSpPr/>
          <p:nvPr/>
        </p:nvGrpSpPr>
        <p:grpSpPr>
          <a:xfrm>
            <a:off x="3467135" y="3345568"/>
            <a:ext cx="843427" cy="443226"/>
            <a:chOff x="666810" y="2586037"/>
            <a:chExt cx="468000" cy="245937"/>
          </a:xfrm>
        </p:grpSpPr>
        <p:sp>
          <p:nvSpPr>
            <p:cNvPr id="8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467135" y="4265048"/>
            <a:ext cx="843427" cy="443226"/>
            <a:chOff x="666810" y="2586037"/>
            <a:chExt cx="468000" cy="245937"/>
          </a:xfrm>
        </p:grpSpPr>
        <p:sp>
          <p:nvSpPr>
            <p:cNvPr id="28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29" name="文本框 28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大作业简介</a:t>
            </a: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58165" y="1548765"/>
            <a:ext cx="11075670" cy="4885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作业主要内容（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20分）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词法分析</a:t>
            </a:r>
            <a:r>
              <a:rPr lang="zh-CN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</a:t>
            </a:r>
            <a:r>
              <a:rPr lang="zh-CN"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：构建一个词法分析器来识别 Pony 语言中的各种词法单元 (Token)，包括关键字（如 var、def 和 </a:t>
            </a:r>
            <a:r>
              <a:rPr 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</a:p>
          <a:p>
            <a:pPr indent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return）、特殊符号、数字以及变量名/函数名等。我们要通过相关函数来获取 Token，判断其合法</a:t>
            </a:r>
            <a:r>
              <a:rPr 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indent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性，并针对非法格式输出错误信息。</a:t>
            </a:r>
          </a:p>
          <a:p>
            <a:pPr marL="285750" indent="-28575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语法分析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：构建一个语法分析器，将获得的词法单元序列构建成一棵抽象语法分析树 (AST)。具体包括解析函</a:t>
            </a:r>
          </a:p>
          <a:p>
            <a:pPr indent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数的声明和调用，Tensor 变量的声明以及 Tensor 的二元运算表达式等，并针对非法格式输出错误</a:t>
            </a:r>
          </a:p>
          <a:p>
            <a:pPr indent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信息。</a:t>
            </a:r>
          </a:p>
          <a:p>
            <a:pPr marL="285750" indent="-28575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代码优化与生成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</a:p>
          <a:p>
            <a:pPr marL="1657350" lvl="3" indent="-28575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基础部分</a:t>
            </a:r>
            <a:r>
              <a:rPr 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</a:t>
            </a:r>
            <a:r>
              <a:rPr 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 Pony 语言内置函数 transpose() 为例，实现冗余代码的消除，并依据要求对优化效果进行验证。</a:t>
            </a:r>
          </a:p>
          <a:p>
            <a:pPr marL="1657350" lvl="3" indent="-28575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进阶部分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 Pony 语言中新增对普通矩阵乘法运算的支持，并对最终结果进行正确性验证。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67135" y="1506115"/>
            <a:ext cx="843427" cy="443226"/>
            <a:chOff x="666810" y="2586037"/>
            <a:chExt cx="468000" cy="245937"/>
          </a:xfrm>
        </p:grpSpPr>
        <p:sp>
          <p:nvSpPr>
            <p:cNvPr id="4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4159633" y="1913780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540673" y="1487676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MLIR</a:t>
            </a:r>
            <a:r>
              <a:rPr lang="en-US" altLang="zh-CN" sz="2400" b="1" dirty="0"/>
              <a:t> </a:t>
            </a:r>
            <a:r>
              <a:rPr lang="zh-CN" altLang="en-US" sz="2400" dirty="0"/>
              <a:t>编译框架简介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67135" y="2426088"/>
            <a:ext cx="843427" cy="443226"/>
            <a:chOff x="666810" y="2586037"/>
            <a:chExt cx="468000" cy="245937"/>
          </a:xfrm>
        </p:grpSpPr>
        <p:sp>
          <p:nvSpPr>
            <p:cNvPr id="13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4159633" y="2833753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540673" y="2393462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Pony </a:t>
            </a:r>
            <a:r>
              <a:rPr lang="zh-CN" altLang="en-US" sz="24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语言简介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4159633" y="3753726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540673" y="3317245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大作业问题描述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4159633" y="4673699"/>
            <a:ext cx="4500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540673" y="4206738"/>
            <a:ext cx="438739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实验流程</a:t>
            </a:r>
            <a:r>
              <a:rPr lang="zh-CN" altLang="en-US" sz="2400" dirty="0">
                <a:sym typeface="+mn-ea"/>
              </a:rPr>
              <a:t>简介</a:t>
            </a:r>
            <a:endParaRPr lang="zh-CN" altLang="en-US" sz="2400" dirty="0"/>
          </a:p>
        </p:txBody>
      </p:sp>
      <p:grpSp>
        <p:nvGrpSpPr>
          <p:cNvPr id="6" name="组合 5"/>
          <p:cNvGrpSpPr/>
          <p:nvPr/>
        </p:nvGrpSpPr>
        <p:grpSpPr>
          <a:xfrm>
            <a:off x="3467135" y="3345568"/>
            <a:ext cx="843427" cy="443226"/>
            <a:chOff x="666810" y="2586037"/>
            <a:chExt cx="468000" cy="245937"/>
          </a:xfrm>
        </p:grpSpPr>
        <p:sp>
          <p:nvSpPr>
            <p:cNvPr id="8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467135" y="4265048"/>
            <a:ext cx="843427" cy="443226"/>
            <a:chOff x="666810" y="2586037"/>
            <a:chExt cx="468000" cy="245937"/>
          </a:xfrm>
        </p:grpSpPr>
        <p:sp>
          <p:nvSpPr>
            <p:cNvPr id="28" name="Freeform 10"/>
            <p:cNvSpPr/>
            <p:nvPr userDrawn="1"/>
          </p:nvSpPr>
          <p:spPr bwMode="auto">
            <a:xfrm>
              <a:off x="666810" y="2621442"/>
              <a:ext cx="468000" cy="190800"/>
            </a:xfrm>
            <a:custGeom>
              <a:avLst/>
              <a:gdLst>
                <a:gd name="T0" fmla="*/ 3120 w 3800"/>
                <a:gd name="T1" fmla="*/ 0 h 1532"/>
                <a:gd name="T2" fmla="*/ 682 w 3800"/>
                <a:gd name="T3" fmla="*/ 0 h 1532"/>
                <a:gd name="T4" fmla="*/ 682 w 3800"/>
                <a:gd name="T5" fmla="*/ 284 h 1532"/>
                <a:gd name="T6" fmla="*/ 0 w 3800"/>
                <a:gd name="T7" fmla="*/ 766 h 1532"/>
                <a:gd name="T8" fmla="*/ 682 w 3800"/>
                <a:gd name="T9" fmla="*/ 1248 h 1532"/>
                <a:gd name="T10" fmla="*/ 682 w 3800"/>
                <a:gd name="T11" fmla="*/ 1532 h 1532"/>
                <a:gd name="T12" fmla="*/ 3120 w 3800"/>
                <a:gd name="T13" fmla="*/ 1532 h 1532"/>
                <a:gd name="T14" fmla="*/ 3120 w 3800"/>
                <a:gd name="T15" fmla="*/ 1248 h 1532"/>
                <a:gd name="T16" fmla="*/ 3800 w 3800"/>
                <a:gd name="T17" fmla="*/ 766 h 1532"/>
                <a:gd name="T18" fmla="*/ 3120 w 3800"/>
                <a:gd name="T19" fmla="*/ 284 h 1532"/>
                <a:gd name="T20" fmla="*/ 3120 w 3800"/>
                <a:gd name="T21" fmla="*/ 0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00" h="1532">
                  <a:moveTo>
                    <a:pt x="3120" y="0"/>
                  </a:moveTo>
                  <a:lnTo>
                    <a:pt x="682" y="0"/>
                  </a:lnTo>
                  <a:lnTo>
                    <a:pt x="682" y="284"/>
                  </a:lnTo>
                  <a:lnTo>
                    <a:pt x="0" y="766"/>
                  </a:lnTo>
                  <a:lnTo>
                    <a:pt x="682" y="1248"/>
                  </a:lnTo>
                  <a:lnTo>
                    <a:pt x="682" y="1532"/>
                  </a:lnTo>
                  <a:lnTo>
                    <a:pt x="3120" y="1532"/>
                  </a:lnTo>
                  <a:lnTo>
                    <a:pt x="3120" y="1248"/>
                  </a:lnTo>
                  <a:lnTo>
                    <a:pt x="3800" y="766"/>
                  </a:lnTo>
                  <a:lnTo>
                    <a:pt x="3120" y="284"/>
                  </a:lnTo>
                  <a:lnTo>
                    <a:pt x="31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algn="ctr"/>
              <a:endParaRPr lang="zh-CN" altLang="en-US" sz="3200" b="1"/>
            </a:p>
          </p:txBody>
        </p:sp>
        <p:sp>
          <p:nvSpPr>
            <p:cNvPr id="29" name="文本框 28"/>
            <p:cNvSpPr txBox="1"/>
            <p:nvPr userDrawn="1"/>
          </p:nvSpPr>
          <p:spPr>
            <a:xfrm>
              <a:off x="794494" y="2586037"/>
              <a:ext cx="212633" cy="245937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实验环境</a:t>
            </a:r>
            <a:endParaRPr lang="zh-CN" altLang="en-US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3195" y="1793875"/>
            <a:ext cx="993203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实验平台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：Ubuntu 20.04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Docker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镜像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实验框架：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MLIR &amp; LLVM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安装步骤</a:t>
            </a: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371547-12EA-E47E-46FD-1FFE87FFB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8" y="1954750"/>
            <a:ext cx="9938657" cy="1365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8F2EC-67A5-1E51-9830-529ED876EF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27" y="3320367"/>
            <a:ext cx="9405258" cy="33434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安装步骤</a:t>
            </a: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EE0CA-0C32-A0A8-8340-FCF6200B5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95" y="1855107"/>
            <a:ext cx="10299700" cy="1712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964BA9-7EBC-49E9-9114-99AFEF771C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469"/>
          <a:stretch/>
        </p:blipFill>
        <p:spPr>
          <a:xfrm>
            <a:off x="816428" y="3567431"/>
            <a:ext cx="10124637" cy="9610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FE6767-1EE7-808D-D4F1-037C41B4D49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03"/>
          <a:stretch/>
        </p:blipFill>
        <p:spPr>
          <a:xfrm>
            <a:off x="816428" y="4615543"/>
            <a:ext cx="5308600" cy="21234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1033145"/>
            <a:ext cx="5962650" cy="3038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9E2781-2C9F-29AB-DB3F-C745F6A3B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578" y="751114"/>
            <a:ext cx="5418307" cy="3151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6DB7D5-9FDF-10FD-600F-FFA74D0F71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91" y="4023948"/>
            <a:ext cx="3965610" cy="2628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90ACC7-0190-EF2E-D38E-CB26AE025F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314" y="4023949"/>
            <a:ext cx="6803571" cy="26285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</a:t>
            </a:r>
            <a:r>
              <a:rPr lang="zh-CN" sz="3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验证</a:t>
            </a:r>
            <a:endParaRPr lang="zh-CN" altLang="en-US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4175" y="1671320"/>
            <a:ext cx="1784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词法分析部分：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5" y="2162175"/>
            <a:ext cx="9295765" cy="1666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1BC48A-ECCE-7DA8-6D80-5EA4CEACF5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56" y="4071252"/>
            <a:ext cx="10248455" cy="4898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3B9829-6866-F922-8399-3F29FECEFD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56" y="4841406"/>
            <a:ext cx="10248454" cy="5796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Q&amp;A</a:t>
            </a:r>
            <a:endParaRPr lang="en-US" sz="3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AutoShape 8" descr="https://images.chinahighlights.com/allpicture/2018/05/dab5040896fc485ba7d6c410.webp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58495" y="1736725"/>
            <a:ext cx="1116393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：能在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TODO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以外的地方修改代码吗？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：可以，最好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在修改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添加代码的位置加上注释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（// the first part）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：实验报告有篇幅限制吗？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：没有，但不要为了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而刻意增加报告页数。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：安装环境或编译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Pony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时出错该怎么办？</a:t>
            </a:r>
          </a:p>
          <a:p>
            <a:pPr lvl="0" indent="0">
              <a:lnSpc>
                <a:spcPct val="150000"/>
              </a:lnSpc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：请在课程微信群向助教私信提问，提问时尽量描述清楚你的指令执行顺序，并附上错误信息的截图。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30920" y="885526"/>
            <a:ext cx="73948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谢谢</a:t>
            </a:r>
            <a:r>
              <a:rPr lang="en-US" altLang="zh-CN" sz="6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! </a:t>
            </a:r>
            <a:r>
              <a:rPr lang="zh-CN" altLang="en-US" sz="6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Calibri" panose="020F0502020204030204" pitchFamily="34" charset="0"/>
              </a:rPr>
              <a:t>！</a:t>
            </a:r>
            <a:endParaRPr lang="en-US" altLang="zh-CN" sz="66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gwN2RhNDljODhjZjYxYzljZTg0NmUwZGVhMWY5YjMifQ=="/>
  <p:tag name="KSO_WPP_MARK_KEY" val="5b09f230-ce69-4e3a-b399-3a74bb2e75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00,&quot;width&quot;:180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00,&quot;width&quot;:180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00,&quot;width&quot;:180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8000,&quot;width&quot;:18000}"/>
</p:tagLst>
</file>

<file path=ppt/theme/theme1.xml><?xml version="1.0" encoding="utf-8"?>
<a:theme xmlns:a="http://schemas.openxmlformats.org/drawingml/2006/main" name="2016-VI主题">
  <a:themeElements>
    <a:clrScheme name="VI统一色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C8161E"/>
      </a:accent1>
      <a:accent2>
        <a:srgbClr val="F08300"/>
      </a:accent2>
      <a:accent3>
        <a:srgbClr val="FDD000"/>
      </a:accent3>
      <a:accent4>
        <a:srgbClr val="338D27"/>
      </a:accent4>
      <a:accent5>
        <a:srgbClr val="0086D1"/>
      </a:accent5>
      <a:accent6>
        <a:srgbClr val="004098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2016-VI主题</Template>
  <TotalTime>53</TotalTime>
  <Words>731</Words>
  <Application>Microsoft Office PowerPoint</Application>
  <PresentationFormat>宽屏</PresentationFormat>
  <Paragraphs>143</Paragraphs>
  <Slides>21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等线</vt:lpstr>
      <vt:lpstr>等线 Light</vt:lpstr>
      <vt:lpstr>黑体</vt:lpstr>
      <vt:lpstr>微软雅黑</vt:lpstr>
      <vt:lpstr>Arial</vt:lpstr>
      <vt:lpstr>Calibri</vt:lpstr>
      <vt:lpstr>Wingdings</vt:lpstr>
      <vt:lpstr>2016-VI主题</vt:lpstr>
      <vt:lpstr>编译原理大作业Tutorial MLIR 编译框架的使用与探索</vt:lpstr>
      <vt:lpstr>目录 Contents</vt:lpstr>
      <vt:lpstr>目录 Contents</vt:lpstr>
      <vt:lpstr>以TensorFlow为引  </vt:lpstr>
      <vt:lpstr>以TensorFlow为引  </vt:lpstr>
      <vt:lpstr>什么是MLIR ？ </vt:lpstr>
      <vt:lpstr>MLIR的核心概念：Dialect</vt:lpstr>
      <vt:lpstr>以ML Frameworks为例  </vt:lpstr>
      <vt:lpstr>目录 Contents</vt:lpstr>
      <vt:lpstr>Pony 语言简介 </vt:lpstr>
      <vt:lpstr>一个端到端流程</vt:lpstr>
      <vt:lpstr>目录 Contents</vt:lpstr>
      <vt:lpstr>大作业简介</vt:lpstr>
      <vt:lpstr>目录 Contents</vt:lpstr>
      <vt:lpstr>实验环境</vt:lpstr>
      <vt:lpstr>安装步骤</vt:lpstr>
      <vt:lpstr>安装步骤</vt:lpstr>
      <vt:lpstr>PowerPoint 演示文稿</vt:lpstr>
      <vt:lpstr>实验验证</vt:lpstr>
      <vt:lpstr>Q&amp;A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Zhenyu Ning</cp:lastModifiedBy>
  <cp:revision>1822</cp:revision>
  <dcterms:created xsi:type="dcterms:W3CDTF">2016-01-21T16:32:00Z</dcterms:created>
  <dcterms:modified xsi:type="dcterms:W3CDTF">2026-04-09T11:38:45Z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B246C4E4685C49799D5AA15F5A5AA327</vt:lpwstr>
  </property>
  <property fmtid="{D5CDD505-2E9C-101B-9397-08002B2CF9AE}" pid="3" name="KSOProductBuildVer">
    <vt:lpwstr>2052-12.1.0.16417</vt:lpwstr>
  </property>
  <property fmtid="{D5CDD505-2E9C-101B-9397-08002B2CF9AE}" pid="4" name="commondata">
    <vt:lpwstr>eyJoZGlkIjoiOTYyNzZlOTRjNTAwNzIzNjdjODlhZmY0YWZlZGIwODYifQ==</vt:lpwstr>
  </property>
</Properties>
</file>